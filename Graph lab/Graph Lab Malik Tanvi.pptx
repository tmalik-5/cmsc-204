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1" r:id="rId6"/>
    <p:sldId id="262" r:id="rId7"/>
    <p:sldId id="263" r:id="rId8"/>
    <p:sldId id="264" r:id="rId9"/>
    <p:sldId id="265" r:id="rId10"/>
  </p:sldIdLst>
  <p:sldSz cx="6858000" cy="9144000" type="screen4x3"/>
  <p:notesSz cx="68580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436" autoAdjust="0"/>
    <p:restoredTop sz="94660"/>
  </p:normalViewPr>
  <p:slideViewPr>
    <p:cSldViewPr>
      <p:cViewPr>
        <p:scale>
          <a:sx n="100" d="100"/>
          <a:sy n="100" d="100"/>
        </p:scale>
        <p:origin x="1493" y="-214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840038"/>
            <a:ext cx="5829300" cy="1960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125A82B-2CCF-464E-91C1-C2331CDBA5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4E3288B-9524-4753-B7CB-1A7EABF3DD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31CDB50-91A3-46F3-89B9-1625B4AD17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4B70BB-8141-42C8-8C99-8154A0B694C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1694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A352CC2-7A15-453A-8A90-1F38E659B2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FAF9D89-D6A0-44FB-B1F4-25AA5E7B146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B0E09AB-3569-46C7-970E-7400B31AED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C68D6E-CE00-4CFF-97B8-35784329E3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1529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338" y="5875338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338" y="3875088"/>
            <a:ext cx="5829300" cy="200025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BAA8AC3-8641-4349-901B-71EBF91212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70D7D54-C431-45F7-A332-5F0286C9B7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D5FC0BE-BDCC-4B7C-9C5B-908B581625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6FCEB6-4B09-47DD-9333-5A2E73C476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7556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0" y="2641600"/>
            <a:ext cx="283845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05200" y="2641600"/>
            <a:ext cx="283845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ED5431-C216-478F-AD06-B324F4216E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73BD0F-AEFB-4A07-A2F0-D4229A319F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70E720-1A03-4226-9F7D-49154454FF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17FEC9-1941-4731-991F-A7E988AAB9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3711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6713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288"/>
            <a:ext cx="3030538" cy="854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900363"/>
            <a:ext cx="3030538" cy="526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4563" y="2046288"/>
            <a:ext cx="3030537" cy="854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4563" y="2900363"/>
            <a:ext cx="3030537" cy="526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9722A30-726A-4684-899A-C9BAAEFAA4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E954E49-D61A-48C7-B3E1-87D24A550CF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AD96845-8722-40D1-B7B6-19DA62CC0B0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8A5AFD-52C1-4DA4-AA98-B08678FB76F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8276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B8C6C15-FD56-4ABA-AB12-BAA70ACDFB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D50E1FB-2178-4660-859C-59A4AD3736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AA6322A-92C9-446C-930A-0698A19F92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9749A5-D26B-4DD9-88B7-4BB0D71C6EB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1183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26BD151-6E80-4919-A6C6-E85E8962B2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EDE622F-11F0-46C9-85F2-95727BDB71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738D21C-6B11-469E-BF8F-83948469C3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676B22-A5F5-4030-927E-C4CA6A17B41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9025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3538"/>
            <a:ext cx="2255838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8" y="363538"/>
            <a:ext cx="3833812" cy="78041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912938"/>
            <a:ext cx="2255838" cy="62547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B731B5-3765-429E-872A-8668632123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07C996-8DF7-4E2F-AF23-8DAE146FF6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165721-1FB1-4FD2-A3E1-477148721D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C26379-5844-4A64-9BA4-F7716D322D5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5641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613" y="6400800"/>
            <a:ext cx="4114800" cy="7556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613" y="81756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613" y="7156450"/>
            <a:ext cx="4114800" cy="10731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4575CE-128F-476E-9884-7448180382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8A3289-721A-48D4-BD33-CB44F14573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9935AD-6A4E-4742-A5EC-70E337C65E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170698-8585-408D-A50A-82C6BAF88B5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1945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F1E756A-6CC2-49FD-B2C6-94BBA2E28D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97474D1-7536-4F1B-9CB0-D3EB9F13FE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C534539-C415-4FB2-BCF4-AA9959083D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F15850-7A6B-4577-8E5E-4628090CA04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5756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886325" y="812800"/>
            <a:ext cx="1457325" cy="7315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812800"/>
            <a:ext cx="4219575" cy="7315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BC7C570-8D38-46A4-A221-68C08F2759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ADE6BD3-ADB3-4002-8C56-DD9C0767C1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85F287D-3029-4F09-A12C-3077245F7E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8AE627-F7F6-4910-8AF8-EDFD7EF370D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3416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BC1576A-CAC6-4108-AC52-7CAE92E892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14350" y="812800"/>
            <a:ext cx="58293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7FFCB32-D8F0-40DD-8DDD-4FE31F5DEF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14350" y="2641600"/>
            <a:ext cx="58293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5817BB7-B3C8-41CB-87F5-8A89D275B32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14350" y="8331200"/>
            <a:ext cx="142875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305F237-D2AD-46AB-9089-261059316DA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43150" y="8331200"/>
            <a:ext cx="21717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A19BE72-D15C-4880-BADE-7EDEFB1FE98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914900" y="8331200"/>
            <a:ext cx="142875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807ACE82-7722-4325-9638-353FC5DF31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" name="Object 2">
            <a:extLst>
              <a:ext uri="{FF2B5EF4-FFF2-40B4-BE49-F238E27FC236}">
                <a16:creationId xmlns:a16="http://schemas.microsoft.com/office/drawing/2014/main" id="{0FC2EDEB-CD6D-479E-AC2A-6579F6E4CF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2824619"/>
              </p:ext>
            </p:extLst>
          </p:nvPr>
        </p:nvGraphicFramePr>
        <p:xfrm>
          <a:off x="538163" y="5110163"/>
          <a:ext cx="5468937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91805" imgH="2460978" progId="Word.Document.8">
                  <p:embed/>
                </p:oleObj>
              </mc:Choice>
              <mc:Fallback>
                <p:oleObj name="Document" r:id="rId2" imgW="5491805" imgH="2460978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163" y="5110163"/>
                        <a:ext cx="5468937" cy="243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1" name="Text Box 3">
            <a:extLst>
              <a:ext uri="{FF2B5EF4-FFF2-40B4-BE49-F238E27FC236}">
                <a16:creationId xmlns:a16="http://schemas.microsoft.com/office/drawing/2014/main" id="{6F9A29ED-552A-4B04-9BFF-78324234E8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9075" y="152400"/>
            <a:ext cx="955675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400"/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400"/>
              <a:t>CMSC204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400"/>
              <a:t>Kartchner</a:t>
            </a:r>
          </a:p>
        </p:txBody>
      </p:sp>
      <p:sp>
        <p:nvSpPr>
          <p:cNvPr id="2054" name="Rectangle 7">
            <a:extLst>
              <a:ext uri="{FF2B5EF4-FFF2-40B4-BE49-F238E27FC236}">
                <a16:creationId xmlns:a16="http://schemas.microsoft.com/office/drawing/2014/main" id="{CD9F0903-62EA-42BD-8AD2-C0B50A702B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38" y="1189038"/>
            <a:ext cx="6291262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/>
              <a:t>V(StateGraph) = {Oregon, Alaska, Texas, Hawaii, Vermont, NewYork, California}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/>
              <a:t>E(StateGraph) = {(Alaska, Oregon), (Hawaii, Alaska), (Hawaii, Texas), (Texas, Hawaii), (Hawaii, 	California), (Hawaii, New York), (Texas, Vermont), (Vermont, California), 	(Vermont, Alaska)}</a:t>
            </a:r>
          </a:p>
        </p:txBody>
      </p:sp>
      <p:sp>
        <p:nvSpPr>
          <p:cNvPr id="2056" name="Text Box 9">
            <a:extLst>
              <a:ext uri="{FF2B5EF4-FFF2-40B4-BE49-F238E27FC236}">
                <a16:creationId xmlns:a16="http://schemas.microsoft.com/office/drawing/2014/main" id="{DF9A9F0D-E17B-4441-A5AB-ABE3472E3D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25" y="2246313"/>
            <a:ext cx="16637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/>
              <a:t>1.  Draw the StateGraph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3C15CB-C1BF-D098-D531-E9DA667A0E7B}"/>
              </a:ext>
            </a:extLst>
          </p:cNvPr>
          <p:cNvSpPr txBox="1"/>
          <p:nvPr/>
        </p:nvSpPr>
        <p:spPr>
          <a:xfrm>
            <a:off x="2819401" y="2819401"/>
            <a:ext cx="609599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200" dirty="0"/>
              <a:t>Alaska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2C9516-2F36-769D-EE6F-D225B7FDE1E6}"/>
              </a:ext>
            </a:extLst>
          </p:cNvPr>
          <p:cNvSpPr txBox="1"/>
          <p:nvPr/>
        </p:nvSpPr>
        <p:spPr>
          <a:xfrm>
            <a:off x="338138" y="2948756"/>
            <a:ext cx="652462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200" dirty="0"/>
              <a:t>Oregon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780D9C-8BC9-B18B-7CA6-7AD6BB4B8E81}"/>
              </a:ext>
            </a:extLst>
          </p:cNvPr>
          <p:cNvSpPr txBox="1"/>
          <p:nvPr/>
        </p:nvSpPr>
        <p:spPr>
          <a:xfrm>
            <a:off x="5486400" y="2948756"/>
            <a:ext cx="762000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200" dirty="0"/>
              <a:t>Vermont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107BF0-B687-2B90-A623-F0C56919CCEC}"/>
              </a:ext>
            </a:extLst>
          </p:cNvPr>
          <p:cNvSpPr txBox="1"/>
          <p:nvPr/>
        </p:nvSpPr>
        <p:spPr>
          <a:xfrm>
            <a:off x="2057401" y="3506547"/>
            <a:ext cx="762000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200" dirty="0"/>
              <a:t>Hawaii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B3DC7C-75DD-924E-05B9-D0C0D002B457}"/>
              </a:ext>
            </a:extLst>
          </p:cNvPr>
          <p:cNvSpPr txBox="1"/>
          <p:nvPr/>
        </p:nvSpPr>
        <p:spPr>
          <a:xfrm>
            <a:off x="3714750" y="3536140"/>
            <a:ext cx="762000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200" dirty="0"/>
              <a:t>Texas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CF23EE-FB7D-22CF-A96C-AEF456579B67}"/>
              </a:ext>
            </a:extLst>
          </p:cNvPr>
          <p:cNvSpPr txBox="1"/>
          <p:nvPr/>
        </p:nvSpPr>
        <p:spPr>
          <a:xfrm>
            <a:off x="1295400" y="4346093"/>
            <a:ext cx="914400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200" dirty="0"/>
              <a:t>New York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C22B3E-8800-C67F-6D4E-FCF9D0732233}"/>
              </a:ext>
            </a:extLst>
          </p:cNvPr>
          <p:cNvSpPr txBox="1"/>
          <p:nvPr/>
        </p:nvSpPr>
        <p:spPr>
          <a:xfrm>
            <a:off x="2743200" y="4346093"/>
            <a:ext cx="838200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200" dirty="0"/>
              <a:t>California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3BDC8FA-BAE5-ED1B-403D-B372B38596A3}"/>
              </a:ext>
            </a:extLst>
          </p:cNvPr>
          <p:cNvCxnSpPr>
            <a:stCxn id="2" idx="1"/>
            <a:endCxn id="3" idx="3"/>
          </p:cNvCxnSpPr>
          <p:nvPr/>
        </p:nvCxnSpPr>
        <p:spPr bwMode="auto">
          <a:xfrm flipH="1">
            <a:off x="990600" y="2957901"/>
            <a:ext cx="1828801" cy="129355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6F6E379-7902-A8EA-07CA-4D74FD2D50D8}"/>
              </a:ext>
            </a:extLst>
          </p:cNvPr>
          <p:cNvCxnSpPr>
            <a:stCxn id="4" idx="1"/>
            <a:endCxn id="2" idx="3"/>
          </p:cNvCxnSpPr>
          <p:nvPr/>
        </p:nvCxnSpPr>
        <p:spPr>
          <a:xfrm flipH="1" flipV="1">
            <a:off x="3429000" y="2957901"/>
            <a:ext cx="2057400" cy="12935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8A93DA6-0D87-83B1-AA4E-7D94F67C1549}"/>
              </a:ext>
            </a:extLst>
          </p:cNvPr>
          <p:cNvCxnSpPr>
            <a:stCxn id="5" idx="0"/>
            <a:endCxn id="2" idx="2"/>
          </p:cNvCxnSpPr>
          <p:nvPr/>
        </p:nvCxnSpPr>
        <p:spPr>
          <a:xfrm flipV="1">
            <a:off x="2438401" y="3096400"/>
            <a:ext cx="685800" cy="41014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127B674-7D78-97C2-7A29-FA77ECA5CEF3}"/>
              </a:ext>
            </a:extLst>
          </p:cNvPr>
          <p:cNvCxnSpPr>
            <a:stCxn id="5" idx="2"/>
            <a:endCxn id="7" idx="0"/>
          </p:cNvCxnSpPr>
          <p:nvPr/>
        </p:nvCxnSpPr>
        <p:spPr>
          <a:xfrm flipH="1">
            <a:off x="1752600" y="3783546"/>
            <a:ext cx="685801" cy="56254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A152A71-3EAB-9864-15D0-DC1B10A64BEB}"/>
              </a:ext>
            </a:extLst>
          </p:cNvPr>
          <p:cNvCxnSpPr>
            <a:stCxn id="5" idx="2"/>
            <a:endCxn id="8" idx="0"/>
          </p:cNvCxnSpPr>
          <p:nvPr/>
        </p:nvCxnSpPr>
        <p:spPr>
          <a:xfrm>
            <a:off x="2438401" y="3783546"/>
            <a:ext cx="723899" cy="56254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Arc 26">
            <a:extLst>
              <a:ext uri="{FF2B5EF4-FFF2-40B4-BE49-F238E27FC236}">
                <a16:creationId xmlns:a16="http://schemas.microsoft.com/office/drawing/2014/main" id="{62D3E24F-6800-BA23-5CAF-8D7B541C8BC5}"/>
              </a:ext>
            </a:extLst>
          </p:cNvPr>
          <p:cNvSpPr/>
          <p:nvPr/>
        </p:nvSpPr>
        <p:spPr>
          <a:xfrm flipV="1">
            <a:off x="5102354" y="3436567"/>
            <a:ext cx="761998" cy="238072"/>
          </a:xfrm>
          <a:prstGeom prst="arc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0F48C61-B00C-0438-5A8E-79B431B4B890}"/>
              </a:ext>
            </a:extLst>
          </p:cNvPr>
          <p:cNvCxnSpPr>
            <a:stCxn id="6" idx="3"/>
            <a:endCxn id="27" idx="0"/>
          </p:cNvCxnSpPr>
          <p:nvPr/>
        </p:nvCxnSpPr>
        <p:spPr>
          <a:xfrm flipV="1">
            <a:off x="4476750" y="3674639"/>
            <a:ext cx="1006603" cy="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0C3C5A2-5B87-9B09-CF9C-B970D7FD7BE3}"/>
              </a:ext>
            </a:extLst>
          </p:cNvPr>
          <p:cNvCxnSpPr>
            <a:stCxn id="27" idx="2"/>
            <a:endCxn id="4" idx="2"/>
          </p:cNvCxnSpPr>
          <p:nvPr/>
        </p:nvCxnSpPr>
        <p:spPr>
          <a:xfrm flipV="1">
            <a:off x="5864352" y="3225755"/>
            <a:ext cx="3048" cy="3298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Arc 48">
            <a:extLst>
              <a:ext uri="{FF2B5EF4-FFF2-40B4-BE49-F238E27FC236}">
                <a16:creationId xmlns:a16="http://schemas.microsoft.com/office/drawing/2014/main" id="{6221982A-E088-0AAC-D641-D37A5FDCF94C}"/>
              </a:ext>
            </a:extLst>
          </p:cNvPr>
          <p:cNvSpPr/>
          <p:nvPr/>
        </p:nvSpPr>
        <p:spPr>
          <a:xfrm rot="15455318" flipH="1">
            <a:off x="3470908" y="3424212"/>
            <a:ext cx="220981" cy="1025474"/>
          </a:xfrm>
          <a:prstGeom prst="arc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FEB70E4-EAA2-F33A-8DEC-FCA8181704F6}"/>
              </a:ext>
            </a:extLst>
          </p:cNvPr>
          <p:cNvCxnSpPr>
            <a:cxnSpLocks/>
            <a:stCxn id="49" idx="2"/>
            <a:endCxn id="6" idx="2"/>
          </p:cNvCxnSpPr>
          <p:nvPr/>
        </p:nvCxnSpPr>
        <p:spPr>
          <a:xfrm flipV="1">
            <a:off x="3605146" y="3813139"/>
            <a:ext cx="490604" cy="23171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1813482-E5FB-6394-5736-C855706E01B6}"/>
              </a:ext>
            </a:extLst>
          </p:cNvPr>
          <p:cNvCxnSpPr>
            <a:cxnSpLocks/>
            <a:stCxn id="49" idx="0"/>
            <a:endCxn id="5" idx="2"/>
          </p:cNvCxnSpPr>
          <p:nvPr/>
        </p:nvCxnSpPr>
        <p:spPr>
          <a:xfrm flipH="1" flipV="1">
            <a:off x="2438401" y="3783546"/>
            <a:ext cx="642243" cy="2636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2" name="Arc 61">
            <a:extLst>
              <a:ext uri="{FF2B5EF4-FFF2-40B4-BE49-F238E27FC236}">
                <a16:creationId xmlns:a16="http://schemas.microsoft.com/office/drawing/2014/main" id="{6BB18A87-BCAE-4CCD-B9E2-C259BF9A7A27}"/>
              </a:ext>
            </a:extLst>
          </p:cNvPr>
          <p:cNvSpPr/>
          <p:nvPr/>
        </p:nvSpPr>
        <p:spPr>
          <a:xfrm rot="4977685" flipH="1">
            <a:off x="2934953" y="2934955"/>
            <a:ext cx="102771" cy="911607"/>
          </a:xfrm>
          <a:prstGeom prst="arc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048" name="Straight Connector 2047">
            <a:extLst>
              <a:ext uri="{FF2B5EF4-FFF2-40B4-BE49-F238E27FC236}">
                <a16:creationId xmlns:a16="http://schemas.microsoft.com/office/drawing/2014/main" id="{A17ABB22-9CB5-DA20-655A-A69A0D09343C}"/>
              </a:ext>
            </a:extLst>
          </p:cNvPr>
          <p:cNvCxnSpPr>
            <a:stCxn id="62" idx="2"/>
            <a:endCxn id="5" idx="0"/>
          </p:cNvCxnSpPr>
          <p:nvPr/>
        </p:nvCxnSpPr>
        <p:spPr>
          <a:xfrm flipH="1">
            <a:off x="2438401" y="3339760"/>
            <a:ext cx="541640" cy="16678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52" name="Straight Arrow Connector 2051">
            <a:extLst>
              <a:ext uri="{FF2B5EF4-FFF2-40B4-BE49-F238E27FC236}">
                <a16:creationId xmlns:a16="http://schemas.microsoft.com/office/drawing/2014/main" id="{3F00195B-5E6F-5509-F0D9-CD808B390628}"/>
              </a:ext>
            </a:extLst>
          </p:cNvPr>
          <p:cNvCxnSpPr>
            <a:stCxn id="62" idx="0"/>
            <a:endCxn id="6" idx="0"/>
          </p:cNvCxnSpPr>
          <p:nvPr/>
        </p:nvCxnSpPr>
        <p:spPr>
          <a:xfrm>
            <a:off x="3438707" y="3334906"/>
            <a:ext cx="657043" cy="2012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53" name="TextBox 46">
            <a:extLst>
              <a:ext uri="{FF2B5EF4-FFF2-40B4-BE49-F238E27FC236}">
                <a16:creationId xmlns:a16="http://schemas.microsoft.com/office/drawing/2014/main" id="{A1256488-B9C2-728D-D601-B0FD50CDECBE}"/>
              </a:ext>
            </a:extLst>
          </p:cNvPr>
          <p:cNvSpPr txBox="1"/>
          <p:nvPr/>
        </p:nvSpPr>
        <p:spPr>
          <a:xfrm>
            <a:off x="1967865" y="5789236"/>
            <a:ext cx="42957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{(Alaska, Oregon), (Hawaii, Alaska), (Hawaii, Texas), (Texas, Hawaii), (Hawaii, California), (Hawaii, New York), (Texas, Vermont), (Vermont, California), (Vermont, Alaska)}</a:t>
            </a:r>
          </a:p>
        </p:txBody>
      </p:sp>
      <p:sp>
        <p:nvSpPr>
          <p:cNvPr id="2057" name="TextBox 45">
            <a:extLst>
              <a:ext uri="{FF2B5EF4-FFF2-40B4-BE49-F238E27FC236}">
                <a16:creationId xmlns:a16="http://schemas.microsoft.com/office/drawing/2014/main" id="{3476C6F2-4076-0F62-06DA-57F2068A6ABE}"/>
              </a:ext>
            </a:extLst>
          </p:cNvPr>
          <p:cNvSpPr txBox="1"/>
          <p:nvPr/>
        </p:nvSpPr>
        <p:spPr>
          <a:xfrm>
            <a:off x="1982533" y="5437979"/>
            <a:ext cx="42957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{Oregon, Alaska, Texas, Hawaii, Vermont, New York, California}</a:t>
            </a:r>
          </a:p>
        </p:txBody>
      </p:sp>
      <p:sp>
        <p:nvSpPr>
          <p:cNvPr id="2058" name="TextBox 45">
            <a:extLst>
              <a:ext uri="{FF2B5EF4-FFF2-40B4-BE49-F238E27FC236}">
                <a16:creationId xmlns:a16="http://schemas.microsoft.com/office/drawing/2014/main" id="{EC086B6B-50B4-4408-0F6B-EF1A00BD86B2}"/>
              </a:ext>
            </a:extLst>
          </p:cNvPr>
          <p:cNvSpPr txBox="1"/>
          <p:nvPr/>
        </p:nvSpPr>
        <p:spPr>
          <a:xfrm>
            <a:off x="4442461" y="6076379"/>
            <a:ext cx="6598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</a:p>
        </p:txBody>
      </p:sp>
      <p:sp>
        <p:nvSpPr>
          <p:cNvPr id="2059" name="TextBox 45">
            <a:extLst>
              <a:ext uri="{FF2B5EF4-FFF2-40B4-BE49-F238E27FC236}">
                <a16:creationId xmlns:a16="http://schemas.microsoft.com/office/drawing/2014/main" id="{7874D680-ADF4-121B-1552-9D2F06BFDDDD}"/>
              </a:ext>
            </a:extLst>
          </p:cNvPr>
          <p:cNvSpPr txBox="1"/>
          <p:nvPr/>
        </p:nvSpPr>
        <p:spPr>
          <a:xfrm>
            <a:off x="4650104" y="6414933"/>
            <a:ext cx="6598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Yes</a:t>
            </a:r>
          </a:p>
        </p:txBody>
      </p:sp>
      <p:sp>
        <p:nvSpPr>
          <p:cNvPr id="2060" name="TextBox 45">
            <a:extLst>
              <a:ext uri="{FF2B5EF4-FFF2-40B4-BE49-F238E27FC236}">
                <a16:creationId xmlns:a16="http://schemas.microsoft.com/office/drawing/2014/main" id="{FCB8A1A3-6BD3-ECC7-9864-C1897477DE95}"/>
              </a:ext>
            </a:extLst>
          </p:cNvPr>
          <p:cNvSpPr txBox="1"/>
          <p:nvPr/>
        </p:nvSpPr>
        <p:spPr>
          <a:xfrm>
            <a:off x="4496181" y="6782736"/>
            <a:ext cx="6598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Texas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>
            <a:extLst>
              <a:ext uri="{FF2B5EF4-FFF2-40B4-BE49-F238E27FC236}">
                <a16:creationId xmlns:a16="http://schemas.microsoft.com/office/drawing/2014/main" id="{C129A688-1F3C-4C9F-9AC5-19802C32F7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925" y="5446713"/>
            <a:ext cx="32178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3.   b.   Show the adjacency lists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            that would describe the edges in the graph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3F1D4401-FBEF-43F9-BEE5-1B122142E7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6019800"/>
            <a:ext cx="1295400" cy="2590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73641C4-B2C2-437B-AAA3-9677860519ED}"/>
              </a:ext>
            </a:extLst>
          </p:cNvPr>
          <p:cNvGrpSpPr/>
          <p:nvPr/>
        </p:nvGrpSpPr>
        <p:grpSpPr>
          <a:xfrm>
            <a:off x="914400" y="1447800"/>
            <a:ext cx="5486400" cy="2590800"/>
            <a:chOff x="381000" y="6248400"/>
            <a:chExt cx="5486400" cy="2590800"/>
          </a:xfrm>
        </p:grpSpPr>
        <p:sp>
          <p:nvSpPr>
            <p:cNvPr id="8" name="Rectangle 4">
              <a:extLst>
                <a:ext uri="{FF2B5EF4-FFF2-40B4-BE49-F238E27FC236}">
                  <a16:creationId xmlns:a16="http://schemas.microsoft.com/office/drawing/2014/main" id="{150515A3-7AEC-4F11-96B7-7933E5964D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" y="6553200"/>
              <a:ext cx="1143000" cy="2286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AC614A04-AAA4-4C45-9079-2C377ECCE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000" y="6477000"/>
              <a:ext cx="3962400" cy="2362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10" name="Text Box 10">
              <a:extLst>
                <a:ext uri="{FF2B5EF4-FFF2-40B4-BE49-F238E27FC236}">
                  <a16:creationId xmlns:a16="http://schemas.microsoft.com/office/drawing/2014/main" id="{BCC31319-0CFB-4318-B56D-38F7954388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" y="6248400"/>
              <a:ext cx="549275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dirty="0"/>
                <a:t>States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E4B944C5-4159-45AC-A452-4E3D1B0B311C}"/>
              </a:ext>
            </a:extLst>
          </p:cNvPr>
          <p:cNvSpPr/>
          <p:nvPr/>
        </p:nvSpPr>
        <p:spPr>
          <a:xfrm>
            <a:off x="457200" y="304800"/>
            <a:ext cx="533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 startAt="3"/>
              <a:tabLst>
                <a:tab pos="228600" algn="l"/>
              </a:tabLst>
            </a:pPr>
            <a:r>
              <a:rPr lang="en-US" sz="1200" dirty="0">
                <a:ea typeface="Times New Roman" panose="02020603050405020304" pitchFamily="18" charset="0"/>
              </a:rPr>
              <a:t>a.  Show the adjacency matrix that would describe the edges in the graph. Store the vertices in alphabetical order</a:t>
            </a:r>
            <a:endParaRPr lang="en-US" sz="1000" dirty="0">
              <a:ea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86784C-5597-2214-9BAC-01D3177FDFF8}"/>
              </a:ext>
            </a:extLst>
          </p:cNvPr>
          <p:cNvSpPr txBox="1"/>
          <p:nvPr/>
        </p:nvSpPr>
        <p:spPr>
          <a:xfrm>
            <a:off x="990600" y="1752600"/>
            <a:ext cx="990600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Alaska </a:t>
            </a:r>
          </a:p>
          <a:p>
            <a:endParaRPr lang="en-IN" sz="1100" dirty="0"/>
          </a:p>
          <a:p>
            <a:r>
              <a:rPr lang="en-IN" sz="1100" dirty="0"/>
              <a:t>California </a:t>
            </a:r>
          </a:p>
          <a:p>
            <a:endParaRPr lang="en-IN" sz="1100" dirty="0"/>
          </a:p>
          <a:p>
            <a:r>
              <a:rPr lang="en-IN" sz="1100" dirty="0"/>
              <a:t>Hawaii</a:t>
            </a:r>
          </a:p>
          <a:p>
            <a:endParaRPr lang="en-IN" sz="1100" dirty="0"/>
          </a:p>
          <a:p>
            <a:r>
              <a:rPr lang="en-IN" sz="1100" dirty="0"/>
              <a:t>New York</a:t>
            </a:r>
          </a:p>
          <a:p>
            <a:endParaRPr lang="en-IN" sz="1100" dirty="0"/>
          </a:p>
          <a:p>
            <a:r>
              <a:rPr lang="en-IN" sz="1100" dirty="0"/>
              <a:t>Oregon</a:t>
            </a:r>
          </a:p>
          <a:p>
            <a:endParaRPr lang="en-IN" sz="1100" dirty="0"/>
          </a:p>
          <a:p>
            <a:r>
              <a:rPr lang="en-IN" sz="1100" dirty="0"/>
              <a:t>Texas </a:t>
            </a:r>
          </a:p>
          <a:p>
            <a:endParaRPr lang="en-IN" sz="1100" dirty="0"/>
          </a:p>
          <a:p>
            <a:r>
              <a:rPr lang="en-IN" sz="1100" dirty="0"/>
              <a:t>Vermont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349E22-37A4-F8A7-DE53-AFC68929B414}"/>
              </a:ext>
            </a:extLst>
          </p:cNvPr>
          <p:cNvSpPr txBox="1"/>
          <p:nvPr/>
        </p:nvSpPr>
        <p:spPr>
          <a:xfrm>
            <a:off x="2362200" y="1447800"/>
            <a:ext cx="434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Alaska  California  Hawaii  New York  Oregon  Texas  Vermont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348559-F794-8E29-69AB-63137B65318A}"/>
              </a:ext>
            </a:extLst>
          </p:cNvPr>
          <p:cNvSpPr txBox="1"/>
          <p:nvPr/>
        </p:nvSpPr>
        <p:spPr>
          <a:xfrm>
            <a:off x="2541915" y="1611005"/>
            <a:ext cx="261610" cy="2492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0</a:t>
            </a:r>
          </a:p>
          <a:p>
            <a:endParaRPr lang="en-IN" sz="1200" dirty="0"/>
          </a:p>
          <a:p>
            <a:r>
              <a:rPr lang="en-IN" sz="1200" dirty="0"/>
              <a:t>0</a:t>
            </a:r>
          </a:p>
          <a:p>
            <a:endParaRPr lang="en-IN" sz="1200" dirty="0"/>
          </a:p>
          <a:p>
            <a:r>
              <a:rPr lang="en-IN" sz="1200" dirty="0"/>
              <a:t>1</a:t>
            </a:r>
          </a:p>
          <a:p>
            <a:endParaRPr lang="en-IN" sz="1200" dirty="0"/>
          </a:p>
          <a:p>
            <a:r>
              <a:rPr lang="en-IN" sz="1200" dirty="0"/>
              <a:t>0</a:t>
            </a:r>
          </a:p>
          <a:p>
            <a:endParaRPr lang="en-IN" sz="1200" dirty="0"/>
          </a:p>
          <a:p>
            <a:r>
              <a:rPr lang="en-IN" sz="1200" dirty="0"/>
              <a:t>0</a:t>
            </a:r>
          </a:p>
          <a:p>
            <a:endParaRPr lang="en-IN" sz="1200" dirty="0"/>
          </a:p>
          <a:p>
            <a:r>
              <a:rPr lang="en-IN" sz="1200" dirty="0"/>
              <a:t>0</a:t>
            </a:r>
          </a:p>
          <a:p>
            <a:endParaRPr lang="en-IN" sz="1200" dirty="0"/>
          </a:p>
          <a:p>
            <a:r>
              <a:rPr lang="en-IN" sz="1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D81957-CB71-E174-4D24-B4212CA66E05}"/>
              </a:ext>
            </a:extLst>
          </p:cNvPr>
          <p:cNvSpPr txBox="1"/>
          <p:nvPr/>
        </p:nvSpPr>
        <p:spPr>
          <a:xfrm>
            <a:off x="3167390" y="1611005"/>
            <a:ext cx="261610" cy="2492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0</a:t>
            </a:r>
          </a:p>
          <a:p>
            <a:endParaRPr lang="en-IN" sz="1200" dirty="0"/>
          </a:p>
          <a:p>
            <a:r>
              <a:rPr lang="en-IN" sz="1200" dirty="0"/>
              <a:t>0</a:t>
            </a:r>
          </a:p>
          <a:p>
            <a:endParaRPr lang="en-IN" sz="1200" dirty="0"/>
          </a:p>
          <a:p>
            <a:r>
              <a:rPr lang="en-IN" sz="1200" dirty="0"/>
              <a:t>1</a:t>
            </a:r>
          </a:p>
          <a:p>
            <a:endParaRPr lang="en-IN" sz="1200" dirty="0"/>
          </a:p>
          <a:p>
            <a:r>
              <a:rPr lang="en-IN" sz="1200" dirty="0"/>
              <a:t>0</a:t>
            </a:r>
          </a:p>
          <a:p>
            <a:endParaRPr lang="en-IN" sz="1200" dirty="0"/>
          </a:p>
          <a:p>
            <a:r>
              <a:rPr lang="en-IN" sz="1200" dirty="0"/>
              <a:t>0</a:t>
            </a:r>
          </a:p>
          <a:p>
            <a:endParaRPr lang="en-IN" sz="1200" dirty="0"/>
          </a:p>
          <a:p>
            <a:r>
              <a:rPr lang="en-IN" sz="1200" dirty="0"/>
              <a:t>0</a:t>
            </a:r>
          </a:p>
          <a:p>
            <a:endParaRPr lang="en-IN" sz="1200" dirty="0"/>
          </a:p>
          <a:p>
            <a:r>
              <a:rPr lang="en-IN" sz="1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0156EB-C36F-25B3-2EF9-940047B9C116}"/>
              </a:ext>
            </a:extLst>
          </p:cNvPr>
          <p:cNvSpPr txBox="1"/>
          <p:nvPr/>
        </p:nvSpPr>
        <p:spPr>
          <a:xfrm>
            <a:off x="4359277" y="1611005"/>
            <a:ext cx="261610" cy="2492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0</a:t>
            </a:r>
          </a:p>
          <a:p>
            <a:endParaRPr lang="en-IN" sz="1200" dirty="0"/>
          </a:p>
          <a:p>
            <a:r>
              <a:rPr lang="en-IN" sz="1200" dirty="0"/>
              <a:t>0</a:t>
            </a:r>
          </a:p>
          <a:p>
            <a:endParaRPr lang="en-IN" sz="1200" dirty="0"/>
          </a:p>
          <a:p>
            <a:r>
              <a:rPr lang="en-IN" sz="1200" dirty="0"/>
              <a:t>1</a:t>
            </a:r>
          </a:p>
          <a:p>
            <a:endParaRPr lang="en-IN" sz="1200" dirty="0"/>
          </a:p>
          <a:p>
            <a:r>
              <a:rPr lang="en-IN" sz="1200" dirty="0"/>
              <a:t>0</a:t>
            </a:r>
          </a:p>
          <a:p>
            <a:endParaRPr lang="en-IN" sz="1200" dirty="0"/>
          </a:p>
          <a:p>
            <a:r>
              <a:rPr lang="en-IN" sz="1200" dirty="0"/>
              <a:t>0</a:t>
            </a:r>
          </a:p>
          <a:p>
            <a:endParaRPr lang="en-IN" sz="1200" dirty="0"/>
          </a:p>
          <a:p>
            <a:r>
              <a:rPr lang="en-IN" sz="1200" dirty="0"/>
              <a:t>0</a:t>
            </a:r>
          </a:p>
          <a:p>
            <a:endParaRPr lang="en-IN" sz="1200" dirty="0"/>
          </a:p>
          <a:p>
            <a:r>
              <a:rPr lang="en-IN" sz="12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B2940B-D6C0-F474-FC8E-71A878CA9A2E}"/>
              </a:ext>
            </a:extLst>
          </p:cNvPr>
          <p:cNvSpPr txBox="1"/>
          <p:nvPr/>
        </p:nvSpPr>
        <p:spPr>
          <a:xfrm>
            <a:off x="3802380" y="1611005"/>
            <a:ext cx="261610" cy="2492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0</a:t>
            </a:r>
          </a:p>
          <a:p>
            <a:endParaRPr lang="en-IN" sz="1200" dirty="0"/>
          </a:p>
          <a:p>
            <a:r>
              <a:rPr lang="en-IN" sz="1200" dirty="0"/>
              <a:t>0</a:t>
            </a:r>
          </a:p>
          <a:p>
            <a:endParaRPr lang="en-IN" sz="1200" dirty="0"/>
          </a:p>
          <a:p>
            <a:r>
              <a:rPr lang="en-IN" sz="1200" dirty="0"/>
              <a:t>0</a:t>
            </a:r>
          </a:p>
          <a:p>
            <a:endParaRPr lang="en-IN" sz="1200" dirty="0"/>
          </a:p>
          <a:p>
            <a:r>
              <a:rPr lang="en-IN" sz="1200" dirty="0"/>
              <a:t>0</a:t>
            </a:r>
          </a:p>
          <a:p>
            <a:endParaRPr lang="en-IN" sz="1200" dirty="0"/>
          </a:p>
          <a:p>
            <a:r>
              <a:rPr lang="en-IN" sz="1200" dirty="0"/>
              <a:t>0</a:t>
            </a:r>
          </a:p>
          <a:p>
            <a:endParaRPr lang="en-IN" sz="1200" dirty="0"/>
          </a:p>
          <a:p>
            <a:r>
              <a:rPr lang="en-IN" sz="1200" dirty="0"/>
              <a:t>1</a:t>
            </a:r>
          </a:p>
          <a:p>
            <a:endParaRPr lang="en-IN" sz="1200" dirty="0"/>
          </a:p>
          <a:p>
            <a:r>
              <a:rPr lang="en-IN" sz="1200" dirty="0"/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1B1600-A0A6-013B-B52B-38BE410C62E7}"/>
              </a:ext>
            </a:extLst>
          </p:cNvPr>
          <p:cNvSpPr txBox="1"/>
          <p:nvPr/>
        </p:nvSpPr>
        <p:spPr>
          <a:xfrm>
            <a:off x="5434948" y="1604794"/>
            <a:ext cx="261610" cy="2492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0</a:t>
            </a:r>
          </a:p>
          <a:p>
            <a:endParaRPr lang="en-IN" sz="1200" dirty="0"/>
          </a:p>
          <a:p>
            <a:r>
              <a:rPr lang="en-IN" sz="1200" dirty="0"/>
              <a:t>0</a:t>
            </a:r>
          </a:p>
          <a:p>
            <a:endParaRPr lang="en-IN" sz="1200" dirty="0"/>
          </a:p>
          <a:p>
            <a:r>
              <a:rPr lang="en-IN" sz="1200" dirty="0"/>
              <a:t>1</a:t>
            </a:r>
          </a:p>
          <a:p>
            <a:endParaRPr lang="en-IN" sz="1200" dirty="0"/>
          </a:p>
          <a:p>
            <a:r>
              <a:rPr lang="en-IN" sz="1200" dirty="0"/>
              <a:t>0</a:t>
            </a:r>
          </a:p>
          <a:p>
            <a:endParaRPr lang="en-IN" sz="1200" dirty="0"/>
          </a:p>
          <a:p>
            <a:r>
              <a:rPr lang="en-IN" sz="1200" dirty="0"/>
              <a:t>0</a:t>
            </a:r>
          </a:p>
          <a:p>
            <a:endParaRPr lang="en-IN" sz="1200" dirty="0"/>
          </a:p>
          <a:p>
            <a:r>
              <a:rPr lang="en-IN" sz="1200" dirty="0"/>
              <a:t>0</a:t>
            </a:r>
          </a:p>
          <a:p>
            <a:endParaRPr lang="en-IN" sz="1200" dirty="0"/>
          </a:p>
          <a:p>
            <a:r>
              <a:rPr lang="en-IN" sz="12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9DC870-D9D7-49D2-E1E4-F951C7A5AE5E}"/>
              </a:ext>
            </a:extLst>
          </p:cNvPr>
          <p:cNvSpPr txBox="1"/>
          <p:nvPr/>
        </p:nvSpPr>
        <p:spPr>
          <a:xfrm>
            <a:off x="4962515" y="1611005"/>
            <a:ext cx="261610" cy="2492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1</a:t>
            </a:r>
          </a:p>
          <a:p>
            <a:endParaRPr lang="en-IN" sz="1200" dirty="0"/>
          </a:p>
          <a:p>
            <a:r>
              <a:rPr lang="en-IN" sz="1200" dirty="0"/>
              <a:t>0</a:t>
            </a:r>
          </a:p>
          <a:p>
            <a:endParaRPr lang="en-IN" sz="1200" dirty="0"/>
          </a:p>
          <a:p>
            <a:r>
              <a:rPr lang="en-IN" sz="1200" dirty="0"/>
              <a:t>0</a:t>
            </a:r>
          </a:p>
          <a:p>
            <a:endParaRPr lang="en-IN" sz="1200" dirty="0"/>
          </a:p>
          <a:p>
            <a:r>
              <a:rPr lang="en-IN" sz="1200" dirty="0"/>
              <a:t>0</a:t>
            </a:r>
          </a:p>
          <a:p>
            <a:endParaRPr lang="en-IN" sz="1200" dirty="0"/>
          </a:p>
          <a:p>
            <a:r>
              <a:rPr lang="en-IN" sz="1200" dirty="0"/>
              <a:t>0</a:t>
            </a:r>
          </a:p>
          <a:p>
            <a:endParaRPr lang="en-IN" sz="1200" dirty="0"/>
          </a:p>
          <a:p>
            <a:r>
              <a:rPr lang="en-IN" sz="1200" dirty="0"/>
              <a:t>0</a:t>
            </a:r>
          </a:p>
          <a:p>
            <a:endParaRPr lang="en-IN" sz="1200" dirty="0"/>
          </a:p>
          <a:p>
            <a:r>
              <a:rPr lang="en-IN" sz="1200" dirty="0"/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6DCC21-D81D-AC9C-0693-90D6FD41CB8F}"/>
              </a:ext>
            </a:extLst>
          </p:cNvPr>
          <p:cNvSpPr txBox="1"/>
          <p:nvPr/>
        </p:nvSpPr>
        <p:spPr>
          <a:xfrm>
            <a:off x="5991845" y="1604794"/>
            <a:ext cx="261610" cy="2492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0</a:t>
            </a:r>
          </a:p>
          <a:p>
            <a:endParaRPr lang="en-IN" sz="1200" dirty="0"/>
          </a:p>
          <a:p>
            <a:r>
              <a:rPr lang="en-IN" sz="1200" dirty="0"/>
              <a:t>0</a:t>
            </a:r>
          </a:p>
          <a:p>
            <a:endParaRPr lang="en-IN" sz="1200" dirty="0"/>
          </a:p>
          <a:p>
            <a:r>
              <a:rPr lang="en-IN" sz="1200" dirty="0"/>
              <a:t>0</a:t>
            </a:r>
          </a:p>
          <a:p>
            <a:endParaRPr lang="en-IN" sz="1200" dirty="0"/>
          </a:p>
          <a:p>
            <a:r>
              <a:rPr lang="en-IN" sz="1200" dirty="0"/>
              <a:t>0</a:t>
            </a:r>
          </a:p>
          <a:p>
            <a:endParaRPr lang="en-IN" sz="1200" dirty="0"/>
          </a:p>
          <a:p>
            <a:r>
              <a:rPr lang="en-IN" sz="1200" dirty="0"/>
              <a:t>0</a:t>
            </a:r>
          </a:p>
          <a:p>
            <a:endParaRPr lang="en-IN" sz="1200" dirty="0"/>
          </a:p>
          <a:p>
            <a:r>
              <a:rPr lang="en-IN" sz="1200" dirty="0"/>
              <a:t>1</a:t>
            </a:r>
          </a:p>
          <a:p>
            <a:endParaRPr lang="en-IN" sz="1200" dirty="0"/>
          </a:p>
          <a:p>
            <a:r>
              <a:rPr lang="en-IN" sz="1200" dirty="0"/>
              <a:t>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E7D895-B4E6-4381-BF15-338A2B685175}"/>
              </a:ext>
            </a:extLst>
          </p:cNvPr>
          <p:cNvSpPr txBox="1"/>
          <p:nvPr/>
        </p:nvSpPr>
        <p:spPr>
          <a:xfrm>
            <a:off x="0" y="6065531"/>
            <a:ext cx="99060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200" dirty="0"/>
              <a:t>Alaska </a:t>
            </a:r>
          </a:p>
          <a:p>
            <a:pPr algn="r"/>
            <a:endParaRPr lang="en-IN" sz="1200" dirty="0"/>
          </a:p>
          <a:p>
            <a:pPr algn="r"/>
            <a:r>
              <a:rPr lang="en-IN" sz="1200" dirty="0"/>
              <a:t>California </a:t>
            </a:r>
          </a:p>
          <a:p>
            <a:pPr algn="r"/>
            <a:endParaRPr lang="en-IN" sz="1200" dirty="0"/>
          </a:p>
          <a:p>
            <a:pPr algn="r"/>
            <a:r>
              <a:rPr lang="en-IN" sz="1200" dirty="0"/>
              <a:t>Hawaii</a:t>
            </a:r>
          </a:p>
          <a:p>
            <a:pPr algn="r"/>
            <a:endParaRPr lang="en-IN" sz="1200" dirty="0"/>
          </a:p>
          <a:p>
            <a:pPr algn="r"/>
            <a:r>
              <a:rPr lang="en-IN" sz="1200" dirty="0"/>
              <a:t>New York</a:t>
            </a:r>
          </a:p>
          <a:p>
            <a:pPr algn="r"/>
            <a:endParaRPr lang="en-IN" sz="1200" dirty="0"/>
          </a:p>
          <a:p>
            <a:pPr algn="r"/>
            <a:r>
              <a:rPr lang="en-IN" sz="1200" dirty="0"/>
              <a:t>Oregon</a:t>
            </a:r>
          </a:p>
          <a:p>
            <a:pPr algn="r"/>
            <a:endParaRPr lang="en-IN" sz="1200" dirty="0"/>
          </a:p>
          <a:p>
            <a:pPr algn="r"/>
            <a:r>
              <a:rPr lang="en-IN" sz="1200" dirty="0"/>
              <a:t>Texas </a:t>
            </a:r>
          </a:p>
          <a:p>
            <a:pPr algn="r"/>
            <a:endParaRPr lang="en-IN" sz="1200" dirty="0"/>
          </a:p>
          <a:p>
            <a:pPr algn="r"/>
            <a:r>
              <a:rPr lang="en-IN" sz="1200" dirty="0"/>
              <a:t>Vermont 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48AD3A3-BA90-9C08-9BB1-AF3C7734F10B}"/>
              </a:ext>
            </a:extLst>
          </p:cNvPr>
          <p:cNvCxnSpPr/>
          <p:nvPr/>
        </p:nvCxnSpPr>
        <p:spPr>
          <a:xfrm>
            <a:off x="990600" y="6324600"/>
            <a:ext cx="12954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655733C-698A-2BD3-44A8-73757352B298}"/>
              </a:ext>
            </a:extLst>
          </p:cNvPr>
          <p:cNvCxnSpPr/>
          <p:nvPr/>
        </p:nvCxnSpPr>
        <p:spPr>
          <a:xfrm>
            <a:off x="990600" y="6705600"/>
            <a:ext cx="12954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3FE78D3-E1F4-4FC1-5141-A539745D35C0}"/>
              </a:ext>
            </a:extLst>
          </p:cNvPr>
          <p:cNvCxnSpPr/>
          <p:nvPr/>
        </p:nvCxnSpPr>
        <p:spPr>
          <a:xfrm>
            <a:off x="990600" y="7086600"/>
            <a:ext cx="12954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553CA73-0524-F860-8012-60A5E630C7DB}"/>
              </a:ext>
            </a:extLst>
          </p:cNvPr>
          <p:cNvCxnSpPr/>
          <p:nvPr/>
        </p:nvCxnSpPr>
        <p:spPr>
          <a:xfrm>
            <a:off x="990600" y="7467600"/>
            <a:ext cx="12954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74D31BB-0389-0B04-E02F-03C7DECE7532}"/>
              </a:ext>
            </a:extLst>
          </p:cNvPr>
          <p:cNvCxnSpPr/>
          <p:nvPr/>
        </p:nvCxnSpPr>
        <p:spPr>
          <a:xfrm>
            <a:off x="990600" y="7848600"/>
            <a:ext cx="12954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7FA023F-835C-DA7E-AA37-7247BD39BF25}"/>
              </a:ext>
            </a:extLst>
          </p:cNvPr>
          <p:cNvCxnSpPr/>
          <p:nvPr/>
        </p:nvCxnSpPr>
        <p:spPr>
          <a:xfrm>
            <a:off x="990600" y="8229600"/>
            <a:ext cx="12954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B3B02DC-2439-8731-6792-228FEE2ABE87}"/>
              </a:ext>
            </a:extLst>
          </p:cNvPr>
          <p:cNvCxnSpPr/>
          <p:nvPr/>
        </p:nvCxnSpPr>
        <p:spPr>
          <a:xfrm>
            <a:off x="1752600" y="6172200"/>
            <a:ext cx="1143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9692ACD7-9C03-CD69-4B1F-2744C8203070}"/>
              </a:ext>
            </a:extLst>
          </p:cNvPr>
          <p:cNvCxnSpPr/>
          <p:nvPr/>
        </p:nvCxnSpPr>
        <p:spPr>
          <a:xfrm>
            <a:off x="1863328" y="6934200"/>
            <a:ext cx="11501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B212BFF4-1193-41FF-083C-FA63A8273C46}"/>
              </a:ext>
            </a:extLst>
          </p:cNvPr>
          <p:cNvCxnSpPr/>
          <p:nvPr/>
        </p:nvCxnSpPr>
        <p:spPr>
          <a:xfrm>
            <a:off x="1807964" y="6553200"/>
            <a:ext cx="110847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73" name="Straight Arrow Connector 3072">
            <a:extLst>
              <a:ext uri="{FF2B5EF4-FFF2-40B4-BE49-F238E27FC236}">
                <a16:creationId xmlns:a16="http://schemas.microsoft.com/office/drawing/2014/main" id="{F36A7998-B68A-A153-C9EC-130F7CC840B3}"/>
              </a:ext>
            </a:extLst>
          </p:cNvPr>
          <p:cNvCxnSpPr/>
          <p:nvPr/>
        </p:nvCxnSpPr>
        <p:spPr>
          <a:xfrm>
            <a:off x="2914412" y="6553200"/>
            <a:ext cx="0" cy="228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79" name="Straight Arrow Connector 3078">
            <a:extLst>
              <a:ext uri="{FF2B5EF4-FFF2-40B4-BE49-F238E27FC236}">
                <a16:creationId xmlns:a16="http://schemas.microsoft.com/office/drawing/2014/main" id="{444CF17C-8B53-E9E0-E632-B8E5F6AFDB23}"/>
              </a:ext>
            </a:extLst>
          </p:cNvPr>
          <p:cNvCxnSpPr/>
          <p:nvPr/>
        </p:nvCxnSpPr>
        <p:spPr>
          <a:xfrm>
            <a:off x="1897856" y="8077200"/>
            <a:ext cx="10739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81" name="Straight Arrow Connector 3080">
            <a:extLst>
              <a:ext uri="{FF2B5EF4-FFF2-40B4-BE49-F238E27FC236}">
                <a16:creationId xmlns:a16="http://schemas.microsoft.com/office/drawing/2014/main" id="{156ED69B-9560-D8E0-7ED9-90B57A1A0321}"/>
              </a:ext>
            </a:extLst>
          </p:cNvPr>
          <p:cNvCxnSpPr/>
          <p:nvPr/>
        </p:nvCxnSpPr>
        <p:spPr>
          <a:xfrm>
            <a:off x="1897856" y="8458200"/>
            <a:ext cx="11501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85" name="Straight Connector 3084">
            <a:extLst>
              <a:ext uri="{FF2B5EF4-FFF2-40B4-BE49-F238E27FC236}">
                <a16:creationId xmlns:a16="http://schemas.microsoft.com/office/drawing/2014/main" id="{EA679C11-55C4-0CD1-FFF1-ADF12CE31860}"/>
              </a:ext>
            </a:extLst>
          </p:cNvPr>
          <p:cNvCxnSpPr/>
          <p:nvPr/>
        </p:nvCxnSpPr>
        <p:spPr>
          <a:xfrm>
            <a:off x="1863328" y="7315200"/>
            <a:ext cx="110847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86" name="Straight Connector 3085">
            <a:extLst>
              <a:ext uri="{FF2B5EF4-FFF2-40B4-BE49-F238E27FC236}">
                <a16:creationId xmlns:a16="http://schemas.microsoft.com/office/drawing/2014/main" id="{2F703382-3B61-183B-CD96-B01A53415167}"/>
              </a:ext>
            </a:extLst>
          </p:cNvPr>
          <p:cNvCxnSpPr/>
          <p:nvPr/>
        </p:nvCxnSpPr>
        <p:spPr>
          <a:xfrm>
            <a:off x="1863328" y="7696200"/>
            <a:ext cx="110847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88" name="Straight Arrow Connector 3087">
            <a:extLst>
              <a:ext uri="{FF2B5EF4-FFF2-40B4-BE49-F238E27FC236}">
                <a16:creationId xmlns:a16="http://schemas.microsoft.com/office/drawing/2014/main" id="{094293A9-6656-E2CD-B55E-CF7F8D8744B0}"/>
              </a:ext>
            </a:extLst>
          </p:cNvPr>
          <p:cNvCxnSpPr>
            <a:cxnSpLocks/>
          </p:cNvCxnSpPr>
          <p:nvPr/>
        </p:nvCxnSpPr>
        <p:spPr>
          <a:xfrm>
            <a:off x="2971800" y="7315200"/>
            <a:ext cx="0" cy="152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90" name="Straight Arrow Connector 3089">
            <a:extLst>
              <a:ext uri="{FF2B5EF4-FFF2-40B4-BE49-F238E27FC236}">
                <a16:creationId xmlns:a16="http://schemas.microsoft.com/office/drawing/2014/main" id="{5F011D2B-9260-4746-01F5-945187DE0708}"/>
              </a:ext>
            </a:extLst>
          </p:cNvPr>
          <p:cNvCxnSpPr>
            <a:cxnSpLocks/>
          </p:cNvCxnSpPr>
          <p:nvPr/>
        </p:nvCxnSpPr>
        <p:spPr>
          <a:xfrm>
            <a:off x="2971800" y="7696200"/>
            <a:ext cx="0" cy="152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94" name="TextBox 3093">
            <a:extLst>
              <a:ext uri="{FF2B5EF4-FFF2-40B4-BE49-F238E27FC236}">
                <a16:creationId xmlns:a16="http://schemas.microsoft.com/office/drawing/2014/main" id="{BAB7D190-FAB4-8F8A-482C-E14687247AF1}"/>
              </a:ext>
            </a:extLst>
          </p:cNvPr>
          <p:cNvSpPr txBox="1"/>
          <p:nvPr/>
        </p:nvSpPr>
        <p:spPr>
          <a:xfrm>
            <a:off x="2971800" y="6033701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Oregon</a:t>
            </a:r>
          </a:p>
        </p:txBody>
      </p:sp>
      <p:sp>
        <p:nvSpPr>
          <p:cNvPr id="3095" name="TextBox 3094">
            <a:extLst>
              <a:ext uri="{FF2B5EF4-FFF2-40B4-BE49-F238E27FC236}">
                <a16:creationId xmlns:a16="http://schemas.microsoft.com/office/drawing/2014/main" id="{659E2AD7-437A-2B6B-1898-A7FF3EBADC6D}"/>
              </a:ext>
            </a:extLst>
          </p:cNvPr>
          <p:cNvSpPr txBox="1"/>
          <p:nvPr/>
        </p:nvSpPr>
        <p:spPr>
          <a:xfrm>
            <a:off x="3048000" y="6781800"/>
            <a:ext cx="29007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Alaska </a:t>
            </a:r>
            <a:r>
              <a:rPr lang="en-IN" sz="1200" dirty="0">
                <a:sym typeface="Wingdings" panose="05000000000000000000" pitchFamily="2" charset="2"/>
              </a:rPr>
              <a:t> California  New York  Texas</a:t>
            </a:r>
            <a:endParaRPr lang="en-IN" sz="1200" dirty="0"/>
          </a:p>
        </p:txBody>
      </p:sp>
      <p:sp>
        <p:nvSpPr>
          <p:cNvPr id="3096" name="TextBox 3095">
            <a:extLst>
              <a:ext uri="{FF2B5EF4-FFF2-40B4-BE49-F238E27FC236}">
                <a16:creationId xmlns:a16="http://schemas.microsoft.com/office/drawing/2014/main" id="{B966BEE8-6647-BCF4-D826-3DBD600242D7}"/>
              </a:ext>
            </a:extLst>
          </p:cNvPr>
          <p:cNvSpPr txBox="1"/>
          <p:nvPr/>
        </p:nvSpPr>
        <p:spPr>
          <a:xfrm>
            <a:off x="3048000" y="7910899"/>
            <a:ext cx="13863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Hawaii </a:t>
            </a:r>
            <a:r>
              <a:rPr lang="en-IN" sz="1200" dirty="0">
                <a:sym typeface="Wingdings" panose="05000000000000000000" pitchFamily="2" charset="2"/>
              </a:rPr>
              <a:t> Vermont</a:t>
            </a:r>
            <a:endParaRPr lang="en-IN" sz="1200" dirty="0"/>
          </a:p>
        </p:txBody>
      </p:sp>
      <p:sp>
        <p:nvSpPr>
          <p:cNvPr id="3097" name="TextBox 3096">
            <a:extLst>
              <a:ext uri="{FF2B5EF4-FFF2-40B4-BE49-F238E27FC236}">
                <a16:creationId xmlns:a16="http://schemas.microsoft.com/office/drawing/2014/main" id="{1A028F69-DEF4-505F-EF67-E4F0293A0216}"/>
              </a:ext>
            </a:extLst>
          </p:cNvPr>
          <p:cNvSpPr txBox="1"/>
          <p:nvPr/>
        </p:nvSpPr>
        <p:spPr>
          <a:xfrm>
            <a:off x="3083503" y="8319700"/>
            <a:ext cx="14670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Alaska </a:t>
            </a:r>
            <a:r>
              <a:rPr lang="en-IN" sz="1200" dirty="0">
                <a:sym typeface="Wingdings" panose="05000000000000000000" pitchFamily="2" charset="2"/>
              </a:rPr>
              <a:t> California</a:t>
            </a:r>
            <a:endParaRPr lang="en-IN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B977FDE-32EA-465E-AADB-9C989EE1CA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609600"/>
            <a:ext cx="4391025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644F9C34-5703-4C24-9E52-5CCFFBD67C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240534"/>
            <a:ext cx="5704254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	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4 a.    Which of the following lists the graph nodes in depth first order beginning with E?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A)	E, G, F, C, D, B, A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B)	G, A, E, C, B, F, D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</a:t>
            </a:r>
            <a:r>
              <a:rPr lang="en-US" altLang="en-US" sz="1200" dirty="0">
                <a:highlight>
                  <a:srgbClr val="FFFF00"/>
                </a:highlight>
              </a:rPr>
              <a:t>C)	E, G, A, D, F, C, B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D)	E, C, F, B, A, D, G 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F45A182C-00FA-4567-8FE6-CAFB6DBCF4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800600"/>
            <a:ext cx="57150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4 b.    Which of the following lists the graph nodes in breadth first order beginning at F?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</a:t>
            </a:r>
            <a:r>
              <a:rPr lang="en-US" altLang="en-US" sz="1200" dirty="0">
                <a:highlight>
                  <a:srgbClr val="FFFF00"/>
                </a:highlight>
              </a:rPr>
              <a:t>A)  F, C, D, A, B, E, G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B)  F, D, C, A, B, C, G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C)  F, C, D, B, G, A, E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D)  a, b, and c are all breadth first traversals </a:t>
            </a:r>
          </a:p>
        </p:txBody>
      </p:sp>
    </p:spTree>
    <p:extLst>
      <p:ext uri="{BB962C8B-B14F-4D97-AF65-F5344CB8AC3E}">
        <p14:creationId xmlns:p14="http://schemas.microsoft.com/office/powerpoint/2010/main" val="2845338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4" descr="9_633b">
            <a:extLst>
              <a:ext uri="{FF2B5EF4-FFF2-40B4-BE49-F238E27FC236}">
                <a16:creationId xmlns:a16="http://schemas.microsoft.com/office/drawing/2014/main" id="{31561808-D3EA-42DE-AACF-7FE716DB2F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685800"/>
            <a:ext cx="4648200" cy="2855913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99" name="Text Box 5">
            <a:extLst>
              <a:ext uri="{FF2B5EF4-FFF2-40B4-BE49-F238E27FC236}">
                <a16:creationId xmlns:a16="http://schemas.microsoft.com/office/drawing/2014/main" id="{6A9A4ED3-BE14-4EA7-88B6-70C20075BE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962400"/>
            <a:ext cx="39116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5.  Find the shortest </a:t>
            </a:r>
            <a:r>
              <a:rPr lang="en-US" altLang="en-US" sz="1200" u="sng" dirty="0"/>
              <a:t>distance</a:t>
            </a:r>
            <a:r>
              <a:rPr lang="en-US" altLang="en-US" sz="1200" dirty="0"/>
              <a:t> from Atlanta to every other city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BAA836-40D3-395C-10EF-FF08E564D8A3}"/>
              </a:ext>
            </a:extLst>
          </p:cNvPr>
          <p:cNvSpPr txBox="1"/>
          <p:nvPr/>
        </p:nvSpPr>
        <p:spPr>
          <a:xfrm>
            <a:off x="838200" y="4343400"/>
            <a:ext cx="24384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100" dirty="0"/>
              <a:t>Atlanta </a:t>
            </a:r>
            <a:r>
              <a:rPr lang="en-US" altLang="en-US" sz="1100" dirty="0">
                <a:sym typeface="Wingdings" panose="05000000000000000000" pitchFamily="2" charset="2"/>
              </a:rPr>
              <a:t></a:t>
            </a:r>
            <a:r>
              <a:rPr lang="en-US" altLang="en-US" sz="1100" dirty="0"/>
              <a:t> </a:t>
            </a:r>
            <a:r>
              <a:rPr lang="en-IN" sz="1100" dirty="0"/>
              <a:t>Washington  	600</a:t>
            </a:r>
          </a:p>
          <a:p>
            <a:endParaRPr lang="en-IN" sz="1100" dirty="0"/>
          </a:p>
          <a:p>
            <a:r>
              <a:rPr lang="en-US" altLang="en-US" sz="1100" dirty="0"/>
              <a:t>Atlanta </a:t>
            </a:r>
            <a:r>
              <a:rPr lang="en-US" altLang="en-US" sz="1100" dirty="0">
                <a:sym typeface="Wingdings" panose="05000000000000000000" pitchFamily="2" charset="2"/>
              </a:rPr>
              <a:t></a:t>
            </a:r>
            <a:r>
              <a:rPr lang="en-US" altLang="en-US" sz="1100" dirty="0"/>
              <a:t> </a:t>
            </a:r>
            <a:r>
              <a:rPr lang="en-IN" sz="1100" dirty="0"/>
              <a:t>Houston  	800</a:t>
            </a:r>
          </a:p>
          <a:p>
            <a:endParaRPr lang="en-IN" sz="1100" dirty="0"/>
          </a:p>
          <a:p>
            <a:r>
              <a:rPr lang="en-US" altLang="en-US" sz="1100" dirty="0"/>
              <a:t>Atlanta </a:t>
            </a:r>
            <a:r>
              <a:rPr lang="en-US" altLang="en-US" sz="1100" dirty="0">
                <a:sym typeface="Wingdings" panose="05000000000000000000" pitchFamily="2" charset="2"/>
              </a:rPr>
              <a:t></a:t>
            </a:r>
            <a:r>
              <a:rPr lang="en-US" altLang="en-US" sz="1100" dirty="0"/>
              <a:t> </a:t>
            </a:r>
            <a:r>
              <a:rPr lang="en-IN" sz="1100" dirty="0"/>
              <a:t>Dallas	1900</a:t>
            </a:r>
          </a:p>
          <a:p>
            <a:endParaRPr lang="en-IN" sz="1100" dirty="0"/>
          </a:p>
          <a:p>
            <a:r>
              <a:rPr lang="en-US" altLang="en-US" sz="1100" dirty="0"/>
              <a:t>Atlanta </a:t>
            </a:r>
            <a:r>
              <a:rPr lang="en-US" altLang="en-US" sz="1100" dirty="0">
                <a:sym typeface="Wingdings" panose="05000000000000000000" pitchFamily="2" charset="2"/>
              </a:rPr>
              <a:t></a:t>
            </a:r>
            <a:r>
              <a:rPr lang="en-US" altLang="en-US" sz="1100" dirty="0"/>
              <a:t> </a:t>
            </a:r>
            <a:r>
              <a:rPr lang="en-IN" sz="1100" dirty="0"/>
              <a:t>Denver	2680</a:t>
            </a:r>
          </a:p>
          <a:p>
            <a:endParaRPr lang="en-IN" sz="1100" dirty="0"/>
          </a:p>
          <a:p>
            <a:r>
              <a:rPr lang="en-US" altLang="en-US" sz="1100" dirty="0"/>
              <a:t>Atlanta </a:t>
            </a:r>
            <a:r>
              <a:rPr lang="en-US" altLang="en-US" sz="1100" dirty="0">
                <a:sym typeface="Wingdings" panose="05000000000000000000" pitchFamily="2" charset="2"/>
              </a:rPr>
              <a:t></a:t>
            </a:r>
            <a:r>
              <a:rPr lang="en-US" altLang="en-US" sz="1100" dirty="0"/>
              <a:t> </a:t>
            </a:r>
            <a:r>
              <a:rPr lang="en-IN" sz="1100" dirty="0"/>
              <a:t>Chicago 	2800</a:t>
            </a:r>
          </a:p>
          <a:p>
            <a:endParaRPr lang="en-IN" sz="1100" dirty="0"/>
          </a:p>
          <a:p>
            <a:r>
              <a:rPr lang="en-US" altLang="en-US" sz="1100" dirty="0"/>
              <a:t>Atlanta </a:t>
            </a:r>
            <a:r>
              <a:rPr lang="en-US" altLang="en-US" sz="1100" dirty="0">
                <a:sym typeface="Wingdings" panose="05000000000000000000" pitchFamily="2" charset="2"/>
              </a:rPr>
              <a:t></a:t>
            </a:r>
            <a:r>
              <a:rPr lang="en-US" altLang="en-US" sz="1100" dirty="0"/>
              <a:t> </a:t>
            </a:r>
            <a:r>
              <a:rPr lang="en-IN" sz="1100" dirty="0"/>
              <a:t>Austin 	2100</a:t>
            </a:r>
          </a:p>
          <a:p>
            <a:endParaRPr lang="en-IN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5">
            <a:extLst>
              <a:ext uri="{FF2B5EF4-FFF2-40B4-BE49-F238E27FC236}">
                <a16:creationId xmlns:a16="http://schemas.microsoft.com/office/drawing/2014/main" id="{173F8752-B146-46CD-B46E-CFF49491B8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609600"/>
            <a:ext cx="4942443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6.  Find the minimal spanning tree using Prim’s algorithm. Use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	0 as the source vertex .  Show the steps.</a:t>
            </a:r>
          </a:p>
        </p:txBody>
      </p:sp>
      <p:pic>
        <p:nvPicPr>
          <p:cNvPr id="2051" name="Picture 5">
            <a:extLst>
              <a:ext uri="{FF2B5EF4-FFF2-40B4-BE49-F238E27FC236}">
                <a16:creationId xmlns:a16="http://schemas.microsoft.com/office/drawing/2014/main" id="{46AC5A2B-1B00-4434-8F50-20AAD41C6B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524000"/>
            <a:ext cx="2686050" cy="2128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CE52923-2CAC-27E4-D06F-6B0CAE5B31F4}"/>
              </a:ext>
            </a:extLst>
          </p:cNvPr>
          <p:cNvSpPr txBox="1"/>
          <p:nvPr/>
        </p:nvSpPr>
        <p:spPr>
          <a:xfrm>
            <a:off x="3429000" y="1676400"/>
            <a:ext cx="332994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V = {0} E = 0</a:t>
            </a:r>
          </a:p>
          <a:p>
            <a:r>
              <a:rPr lang="en-IN" sz="1200" dirty="0"/>
              <a:t>V = {0,2} E = {(0,2)} </a:t>
            </a:r>
          </a:p>
          <a:p>
            <a:r>
              <a:rPr lang="en-IN" sz="1200" dirty="0"/>
              <a:t>V = {0,2,5} E = {(0,2),(2,5)} </a:t>
            </a:r>
          </a:p>
          <a:p>
            <a:r>
              <a:rPr lang="en-IN" sz="1200" dirty="0"/>
              <a:t>V = {0,2,5,1} E = {(0,2),(2,5)(5,1)}</a:t>
            </a:r>
          </a:p>
          <a:p>
            <a:r>
              <a:rPr lang="en-IN" sz="1200" dirty="0"/>
              <a:t>V = {0,2,5,1,4} E = {(0,2),(2,5)(5,1),(5,4)} </a:t>
            </a:r>
          </a:p>
          <a:p>
            <a:r>
              <a:rPr lang="en-IN" sz="1200" dirty="0"/>
              <a:t>V = {0,2,5,1,4,3} E = {(0,2),(2,5)(5,1),(5,4),(1,3)} </a:t>
            </a:r>
          </a:p>
          <a:p>
            <a:endParaRPr lang="en-IN" sz="1200" dirty="0"/>
          </a:p>
          <a:p>
            <a:r>
              <a:rPr lang="en-IN" sz="1200" dirty="0"/>
              <a:t> </a:t>
            </a:r>
          </a:p>
          <a:p>
            <a:endParaRPr lang="en-IN" sz="1200" dirty="0"/>
          </a:p>
          <a:p>
            <a:endParaRPr lang="en-IN" sz="1200" b="1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B692434-41D4-0DC2-A22A-78E22F859FFF}"/>
              </a:ext>
            </a:extLst>
          </p:cNvPr>
          <p:cNvSpPr/>
          <p:nvPr/>
        </p:nvSpPr>
        <p:spPr bwMode="auto">
          <a:xfrm>
            <a:off x="3448050" y="4174361"/>
            <a:ext cx="304800" cy="3048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0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1E6109D-F52A-EF01-0CC9-0B96FFEB836E}"/>
              </a:ext>
            </a:extLst>
          </p:cNvPr>
          <p:cNvSpPr/>
          <p:nvPr/>
        </p:nvSpPr>
        <p:spPr bwMode="auto">
          <a:xfrm>
            <a:off x="3429000" y="5715000"/>
            <a:ext cx="304800" cy="3048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EDCEB41-1E97-640F-8ADA-4CA1D2545509}"/>
              </a:ext>
            </a:extLst>
          </p:cNvPr>
          <p:cNvSpPr/>
          <p:nvPr/>
        </p:nvSpPr>
        <p:spPr bwMode="auto">
          <a:xfrm>
            <a:off x="5562600" y="4174361"/>
            <a:ext cx="304800" cy="3048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sz="1200" dirty="0">
                <a:solidFill>
                  <a:schemeClr val="tx1"/>
                </a:solidFill>
                <a:latin typeface="Times New Roman" pitchFamily="18" charset="0"/>
              </a:rPr>
              <a:t>1</a:t>
            </a:r>
            <a:endParaRPr kumimoji="0" lang="en-I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8BE5CB0-C45E-5525-612F-3E5E5A39DD1F}"/>
              </a:ext>
            </a:extLst>
          </p:cNvPr>
          <p:cNvSpPr/>
          <p:nvPr/>
        </p:nvSpPr>
        <p:spPr bwMode="auto">
          <a:xfrm>
            <a:off x="4581525" y="4944680"/>
            <a:ext cx="304800" cy="3048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5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8AB92D6-4C4F-B0E3-4E02-8FBEF53FEF03}"/>
              </a:ext>
            </a:extLst>
          </p:cNvPr>
          <p:cNvSpPr/>
          <p:nvPr/>
        </p:nvSpPr>
        <p:spPr bwMode="auto">
          <a:xfrm>
            <a:off x="4572000" y="5715000"/>
            <a:ext cx="304800" cy="3048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4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6FCBB7A-FFBD-294E-4EF3-50200C3F07EA}"/>
              </a:ext>
            </a:extLst>
          </p:cNvPr>
          <p:cNvSpPr/>
          <p:nvPr/>
        </p:nvSpPr>
        <p:spPr bwMode="auto">
          <a:xfrm>
            <a:off x="5562600" y="5715000"/>
            <a:ext cx="304800" cy="3048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3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1115397-D9F6-5551-3EC4-27F0A7B8DFC5}"/>
              </a:ext>
            </a:extLst>
          </p:cNvPr>
          <p:cNvCxnSpPr>
            <a:stCxn id="4" idx="4"/>
            <a:endCxn id="5" idx="0"/>
          </p:cNvCxnSpPr>
          <p:nvPr/>
        </p:nvCxnSpPr>
        <p:spPr>
          <a:xfrm flipH="1">
            <a:off x="3581400" y="4479161"/>
            <a:ext cx="19050" cy="123583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9BE0CA3-01CE-7D02-46ED-E13C689E27DA}"/>
              </a:ext>
            </a:extLst>
          </p:cNvPr>
          <p:cNvCxnSpPr>
            <a:stCxn id="5" idx="7"/>
            <a:endCxn id="7" idx="3"/>
          </p:cNvCxnSpPr>
          <p:nvPr/>
        </p:nvCxnSpPr>
        <p:spPr>
          <a:xfrm flipV="1">
            <a:off x="3689163" y="5204843"/>
            <a:ext cx="936999" cy="55479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E507F98-1CF1-177B-0FDE-8ABA72E21F3D}"/>
              </a:ext>
            </a:extLst>
          </p:cNvPr>
          <p:cNvCxnSpPr>
            <a:stCxn id="7" idx="7"/>
            <a:endCxn id="6" idx="3"/>
          </p:cNvCxnSpPr>
          <p:nvPr/>
        </p:nvCxnSpPr>
        <p:spPr>
          <a:xfrm flipV="1">
            <a:off x="4841688" y="4434524"/>
            <a:ext cx="765549" cy="5547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D1D813B-95C4-7396-AB49-58A46BC254C3}"/>
              </a:ext>
            </a:extLst>
          </p:cNvPr>
          <p:cNvCxnSpPr>
            <a:stCxn id="6" idx="4"/>
            <a:endCxn id="9" idx="0"/>
          </p:cNvCxnSpPr>
          <p:nvPr/>
        </p:nvCxnSpPr>
        <p:spPr>
          <a:xfrm>
            <a:off x="5715000" y="4479161"/>
            <a:ext cx="0" cy="123583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755F734-42A2-B84F-1018-215BA39A5DAB}"/>
              </a:ext>
            </a:extLst>
          </p:cNvPr>
          <p:cNvCxnSpPr>
            <a:stCxn id="7" idx="4"/>
            <a:endCxn id="8" idx="0"/>
          </p:cNvCxnSpPr>
          <p:nvPr/>
        </p:nvCxnSpPr>
        <p:spPr>
          <a:xfrm flipH="1">
            <a:off x="4724400" y="5249480"/>
            <a:ext cx="9525" cy="4655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771BA1B-2BF6-2261-486A-713AE1B50D6F}"/>
              </a:ext>
            </a:extLst>
          </p:cNvPr>
          <p:cNvSpPr txBox="1"/>
          <p:nvPr/>
        </p:nvSpPr>
        <p:spPr>
          <a:xfrm>
            <a:off x="3568491" y="4899630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8F389E8-6464-664F-AD12-4DAF04E33EC1}"/>
              </a:ext>
            </a:extLst>
          </p:cNvPr>
          <p:cNvSpPr txBox="1"/>
          <p:nvPr/>
        </p:nvSpPr>
        <p:spPr>
          <a:xfrm>
            <a:off x="3943365" y="5249480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B6B16BE-B97B-8610-6C51-55FEA09BE270}"/>
              </a:ext>
            </a:extLst>
          </p:cNvPr>
          <p:cNvSpPr txBox="1"/>
          <p:nvPr/>
        </p:nvSpPr>
        <p:spPr>
          <a:xfrm>
            <a:off x="4962853" y="4534316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147D092-855A-B29C-10D5-723608E38AED}"/>
              </a:ext>
            </a:extLst>
          </p:cNvPr>
          <p:cNvSpPr txBox="1"/>
          <p:nvPr/>
        </p:nvSpPr>
        <p:spPr>
          <a:xfrm>
            <a:off x="5483870" y="5017118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D6DC1C1-6A20-376A-2B6C-05603527FDCE}"/>
              </a:ext>
            </a:extLst>
          </p:cNvPr>
          <p:cNvSpPr txBox="1"/>
          <p:nvPr/>
        </p:nvSpPr>
        <p:spPr>
          <a:xfrm>
            <a:off x="4691063" y="5376199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3">
            <a:extLst>
              <a:ext uri="{FF2B5EF4-FFF2-40B4-BE49-F238E27FC236}">
                <a16:creationId xmlns:a16="http://schemas.microsoft.com/office/drawing/2014/main" id="{00A92C8E-6175-4482-94F6-9AEE58F15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838200"/>
            <a:ext cx="634885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sz="1800" dirty="0"/>
              <a:t>7.  Find the minimal spanning tree using Kruskal’s algorithm.</a:t>
            </a:r>
          </a:p>
          <a:p>
            <a:pPr eaLnBrk="1" hangingPunct="1">
              <a:defRPr/>
            </a:pPr>
            <a:r>
              <a:rPr lang="en-US" sz="1800" dirty="0"/>
              <a:t>Show the weights in order and the steps.</a:t>
            </a:r>
          </a:p>
        </p:txBody>
      </p:sp>
      <p:sp>
        <p:nvSpPr>
          <p:cNvPr id="3075" name="Rectangle 4">
            <a:extLst>
              <a:ext uri="{FF2B5EF4-FFF2-40B4-BE49-F238E27FC236}">
                <a16:creationId xmlns:a16="http://schemas.microsoft.com/office/drawing/2014/main" id="{E71DD7EA-C580-43B3-BC05-FA24AC85E0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50" y="4800600"/>
            <a:ext cx="2571750" cy="2857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350"/>
          </a:p>
        </p:txBody>
      </p:sp>
      <p:sp>
        <p:nvSpPr>
          <p:cNvPr id="3076" name="Rectangle 5">
            <a:extLst>
              <a:ext uri="{FF2B5EF4-FFF2-40B4-BE49-F238E27FC236}">
                <a16:creationId xmlns:a16="http://schemas.microsoft.com/office/drawing/2014/main" id="{5A054E60-1451-4BFE-A023-A4DF0B7F1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43200"/>
            <a:ext cx="2228850" cy="21717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350"/>
          </a:p>
        </p:txBody>
      </p:sp>
      <p:sp>
        <p:nvSpPr>
          <p:cNvPr id="3077" name="Rectangle 6">
            <a:extLst>
              <a:ext uri="{FF2B5EF4-FFF2-40B4-BE49-F238E27FC236}">
                <a16:creationId xmlns:a16="http://schemas.microsoft.com/office/drawing/2014/main" id="{D4108B9B-143E-4D5F-B2C5-7B979A64B8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0" y="2743200"/>
            <a:ext cx="2114550" cy="20002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350"/>
          </a:p>
        </p:txBody>
      </p:sp>
      <p:sp>
        <p:nvSpPr>
          <p:cNvPr id="3078" name="Rectangle 7">
            <a:extLst>
              <a:ext uri="{FF2B5EF4-FFF2-40B4-BE49-F238E27FC236}">
                <a16:creationId xmlns:a16="http://schemas.microsoft.com/office/drawing/2014/main" id="{2C2C5CBD-8904-410A-901D-4499337BD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0250" y="4572000"/>
            <a:ext cx="24003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350"/>
          </a:p>
        </p:txBody>
      </p:sp>
      <p:sp>
        <p:nvSpPr>
          <p:cNvPr id="3079" name="Rectangle 8">
            <a:extLst>
              <a:ext uri="{FF2B5EF4-FFF2-40B4-BE49-F238E27FC236}">
                <a16:creationId xmlns:a16="http://schemas.microsoft.com/office/drawing/2014/main" id="{4FDBE91F-B50C-4798-9349-2A662252E3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4550" y="2743200"/>
            <a:ext cx="2343150" cy="1714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350"/>
          </a:p>
        </p:txBody>
      </p:sp>
      <p:pic>
        <p:nvPicPr>
          <p:cNvPr id="3080" name="Picture 5">
            <a:extLst>
              <a:ext uri="{FF2B5EF4-FFF2-40B4-BE49-F238E27FC236}">
                <a16:creationId xmlns:a16="http://schemas.microsoft.com/office/drawing/2014/main" id="{C44D3F9C-B06C-4D17-8564-DC283D6A4E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600200"/>
            <a:ext cx="2686050" cy="2128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7659E13-4C26-E974-C8AD-EB1259278465}"/>
              </a:ext>
            </a:extLst>
          </p:cNvPr>
          <p:cNvSpPr txBox="1"/>
          <p:nvPr/>
        </p:nvSpPr>
        <p:spPr>
          <a:xfrm>
            <a:off x="1071880" y="3886200"/>
            <a:ext cx="3911600" cy="2274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5 (1)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  5 (2)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0  2 (3)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4  5 (3)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  3 (5)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3  4 (6)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0  1 (7)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  4 (8)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4" descr="08">
            <a:extLst>
              <a:ext uri="{FF2B5EF4-FFF2-40B4-BE49-F238E27FC236}">
                <a16:creationId xmlns:a16="http://schemas.microsoft.com/office/drawing/2014/main" id="{8C139698-8935-4237-9D08-07DB6B3B19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524000"/>
            <a:ext cx="5715000" cy="3564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Rectangle 5">
            <a:extLst>
              <a:ext uri="{FF2B5EF4-FFF2-40B4-BE49-F238E27FC236}">
                <a16:creationId xmlns:a16="http://schemas.microsoft.com/office/drawing/2014/main" id="{8D0E32BB-9F2D-4736-AA1F-A3FD6F876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762000"/>
            <a:ext cx="552273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8.  Find the minimal spanning tree using the algorithm you prefer. Use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	Minneapolis/St. Paul as the source vertex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A5EF28-B7F3-C3EF-3B1B-942737C5D4B1}"/>
              </a:ext>
            </a:extLst>
          </p:cNvPr>
          <p:cNvSpPr txBox="1"/>
          <p:nvPr/>
        </p:nvSpPr>
        <p:spPr>
          <a:xfrm>
            <a:off x="609600" y="5103971"/>
            <a:ext cx="5105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sz="1200" dirty="0"/>
              <a:t>Prim’s Algorithm:</a:t>
            </a:r>
          </a:p>
          <a:p>
            <a:pPr marL="342900" indent="-342900">
              <a:buAutoNum type="arabicPeriod"/>
            </a:pPr>
            <a:r>
              <a:rPr lang="en-US" sz="1200" dirty="0"/>
              <a:t>Minneapolis/St. Paul </a:t>
            </a:r>
            <a:r>
              <a:rPr lang="en-US" sz="1200" dirty="0">
                <a:sym typeface="Wingdings" panose="05000000000000000000" pitchFamily="2" charset="2"/>
              </a:rPr>
              <a:t></a:t>
            </a:r>
            <a:r>
              <a:rPr lang="en-US" sz="1200" dirty="0"/>
              <a:t> Des Moines, Weight: 235</a:t>
            </a:r>
          </a:p>
          <a:p>
            <a:pPr marL="342900" indent="-342900">
              <a:buAutoNum type="arabicPeriod"/>
            </a:pPr>
            <a:r>
              <a:rPr lang="en-US" sz="1200" dirty="0"/>
              <a:t>Des Moines </a:t>
            </a:r>
            <a:r>
              <a:rPr lang="en-US" sz="1200" dirty="0">
                <a:sym typeface="Wingdings" panose="05000000000000000000" pitchFamily="2" charset="2"/>
              </a:rPr>
              <a:t></a:t>
            </a:r>
            <a:r>
              <a:rPr lang="en-US" sz="1200" dirty="0"/>
              <a:t>  St. Louis, Weight: 320</a:t>
            </a:r>
          </a:p>
          <a:p>
            <a:pPr marL="342900" indent="-342900">
              <a:buAutoNum type="arabicPeriod"/>
            </a:pPr>
            <a:r>
              <a:rPr lang="en-US" sz="1200" dirty="0"/>
              <a:t>St. Louis </a:t>
            </a:r>
            <a:r>
              <a:rPr lang="en-US" sz="1200" dirty="0">
                <a:sym typeface="Wingdings" panose="05000000000000000000" pitchFamily="2" charset="2"/>
              </a:rPr>
              <a:t></a:t>
            </a:r>
            <a:r>
              <a:rPr lang="en-US" sz="1200" dirty="0"/>
              <a:t> Chicago, Weight: 270</a:t>
            </a:r>
          </a:p>
          <a:p>
            <a:pPr marL="342900" indent="-342900">
              <a:buAutoNum type="arabicPeriod"/>
            </a:pPr>
            <a:r>
              <a:rPr lang="en-US" sz="1200" dirty="0"/>
              <a:t>Chicago </a:t>
            </a:r>
            <a:r>
              <a:rPr lang="en-US" sz="1200" dirty="0">
                <a:sym typeface="Wingdings" panose="05000000000000000000" pitchFamily="2" charset="2"/>
              </a:rPr>
              <a:t></a:t>
            </a:r>
            <a:r>
              <a:rPr lang="en-US" sz="1200" dirty="0"/>
              <a:t> Milwaukee, Weight: 95</a:t>
            </a:r>
          </a:p>
          <a:p>
            <a:pPr marL="342900" indent="-342900">
              <a:buAutoNum type="arabicPeriod"/>
            </a:pPr>
            <a:r>
              <a:rPr lang="en-US" sz="1200" dirty="0"/>
              <a:t>Chicago </a:t>
            </a:r>
            <a:r>
              <a:rPr lang="en-US" sz="1200" dirty="0">
                <a:sym typeface="Wingdings" panose="05000000000000000000" pitchFamily="2" charset="2"/>
              </a:rPr>
              <a:t></a:t>
            </a:r>
            <a:r>
              <a:rPr lang="en-US" sz="1200" dirty="0"/>
              <a:t> Detroit , Weight: 270</a:t>
            </a:r>
          </a:p>
          <a:p>
            <a:pPr marL="342900" indent="-342900">
              <a:buAutoNum type="arabicPeriod"/>
            </a:pPr>
            <a:r>
              <a:rPr lang="en-US" sz="1200" dirty="0"/>
              <a:t>Milwaukee </a:t>
            </a:r>
            <a:r>
              <a:rPr lang="en-US" sz="1200" dirty="0">
                <a:sym typeface="Wingdings" panose="05000000000000000000" pitchFamily="2" charset="2"/>
              </a:rPr>
              <a:t></a:t>
            </a:r>
            <a:r>
              <a:rPr lang="en-US" sz="1200" dirty="0"/>
              <a:t> Madison, Weight: 80</a:t>
            </a:r>
          </a:p>
          <a:p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5">
            <a:extLst>
              <a:ext uri="{FF2B5EF4-FFF2-40B4-BE49-F238E27FC236}">
                <a16:creationId xmlns:a16="http://schemas.microsoft.com/office/drawing/2014/main" id="{80443669-B4DB-4504-ACF5-BCC233134B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685800"/>
            <a:ext cx="6138219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9. List the nodes of the graph in a breadth first topological ordering.  Show the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     steps using arrays predCount, topologicalOrder and a queue</a:t>
            </a:r>
          </a:p>
        </p:txBody>
      </p:sp>
      <p:sp>
        <p:nvSpPr>
          <p:cNvPr id="5127" name="Rectangle 10">
            <a:extLst>
              <a:ext uri="{FF2B5EF4-FFF2-40B4-BE49-F238E27FC236}">
                <a16:creationId xmlns:a16="http://schemas.microsoft.com/office/drawing/2014/main" id="{C6B0D4E7-088E-4AFF-8702-57CBB2E7E1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304800"/>
            <a:ext cx="257175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35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CAFEBF-6A63-4870-9BDF-00EB301F68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524000"/>
            <a:ext cx="3962400" cy="24924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82872D-BA7B-5AD7-6A6E-5E1D6CA71C45}"/>
              </a:ext>
            </a:extLst>
          </p:cNvPr>
          <p:cNvSpPr txBox="1"/>
          <p:nvPr/>
        </p:nvSpPr>
        <p:spPr>
          <a:xfrm>
            <a:off x="609600" y="3886200"/>
            <a:ext cx="613821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sz="1200" dirty="0"/>
              <a:t>Step           Queue              </a:t>
            </a:r>
            <a:r>
              <a:rPr lang="en-US" sz="1200" dirty="0" err="1"/>
              <a:t>topologicalOrder</a:t>
            </a:r>
            <a:r>
              <a:rPr lang="en-US" sz="1200" dirty="0"/>
              <a:t>           </a:t>
            </a:r>
            <a:r>
              <a:rPr lang="en-US" sz="1200" dirty="0" err="1"/>
              <a:t>predCount</a:t>
            </a:r>
            <a:endParaRPr lang="en-US" sz="1200" dirty="0"/>
          </a:p>
          <a:p>
            <a:pPr marL="342900" indent="-342900">
              <a:buAutoNum type="arabicPeriod"/>
            </a:pPr>
            <a:r>
              <a:rPr lang="en-US" sz="1200" dirty="0"/>
              <a:t>             [0, 7]                                               Start </a:t>
            </a:r>
            <a:r>
              <a:rPr lang="en-US" sz="1200" dirty="0" err="1"/>
              <a:t>predCount</a:t>
            </a:r>
            <a:endParaRPr lang="en-US" sz="1200" dirty="0"/>
          </a:p>
          <a:p>
            <a:pPr marL="342900" indent="-342900">
              <a:buAutoNum type="arabicPeriod"/>
            </a:pPr>
            <a:r>
              <a:rPr lang="en-US" sz="1200" dirty="0"/>
              <a:t>             [7, 1]                       0                         1 </a:t>
            </a:r>
            <a:r>
              <a:rPr lang="en-US" sz="1200" dirty="0">
                <a:sym typeface="Wingdings" panose="05000000000000000000" pitchFamily="2" charset="2"/>
              </a:rPr>
              <a:t></a:t>
            </a:r>
            <a:r>
              <a:rPr lang="en-US" sz="1200" dirty="0"/>
              <a:t> 0, 5 </a:t>
            </a:r>
            <a:r>
              <a:rPr lang="en-US" sz="1200" dirty="0">
                <a:sym typeface="Wingdings" panose="05000000000000000000" pitchFamily="2" charset="2"/>
              </a:rPr>
              <a:t></a:t>
            </a:r>
            <a:r>
              <a:rPr lang="en-US" sz="1200" dirty="0"/>
              <a:t> 1</a:t>
            </a:r>
          </a:p>
          <a:p>
            <a:pPr marL="342900" indent="-342900">
              <a:buAutoNum type="arabicPeriod"/>
            </a:pPr>
            <a:r>
              <a:rPr lang="en-US" sz="1200" dirty="0"/>
              <a:t>                [1]                        7               4 </a:t>
            </a:r>
            <a:r>
              <a:rPr lang="en-US" sz="1200" dirty="0">
                <a:sym typeface="Wingdings" panose="05000000000000000000" pitchFamily="2" charset="2"/>
              </a:rPr>
              <a:t></a:t>
            </a:r>
            <a:r>
              <a:rPr lang="en-US" sz="1200" dirty="0"/>
              <a:t> 2, 6 </a:t>
            </a:r>
            <a:r>
              <a:rPr lang="en-US" sz="1200" dirty="0">
                <a:sym typeface="Wingdings" panose="05000000000000000000" pitchFamily="2" charset="2"/>
              </a:rPr>
              <a:t></a:t>
            </a:r>
            <a:r>
              <a:rPr lang="en-US" sz="1200" dirty="0"/>
              <a:t> 1, 9 </a:t>
            </a:r>
            <a:r>
              <a:rPr lang="en-US" sz="1200" dirty="0">
                <a:sym typeface="Wingdings" panose="05000000000000000000" pitchFamily="2" charset="2"/>
              </a:rPr>
              <a:t></a:t>
            </a:r>
            <a:r>
              <a:rPr lang="en-US" sz="1200" dirty="0"/>
              <a:t> 1</a:t>
            </a:r>
          </a:p>
          <a:p>
            <a:pPr marL="342900" indent="-342900">
              <a:buAutoNum type="arabicPeriod"/>
            </a:pPr>
            <a:r>
              <a:rPr lang="en-US" sz="1200" dirty="0"/>
              <a:t>            [5, 6, 2]                    1               5 </a:t>
            </a:r>
            <a:r>
              <a:rPr lang="en-US" sz="1200" dirty="0">
                <a:sym typeface="Wingdings" panose="05000000000000000000" pitchFamily="2" charset="2"/>
              </a:rPr>
              <a:t></a:t>
            </a:r>
            <a:r>
              <a:rPr lang="en-US" sz="1200" dirty="0"/>
              <a:t> 0, 6 </a:t>
            </a:r>
            <a:r>
              <a:rPr lang="en-US" sz="1200" dirty="0">
                <a:sym typeface="Wingdings" panose="05000000000000000000" pitchFamily="2" charset="2"/>
              </a:rPr>
              <a:t></a:t>
            </a:r>
            <a:r>
              <a:rPr lang="en-US" sz="1200" dirty="0"/>
              <a:t> 0, 2 </a:t>
            </a:r>
            <a:r>
              <a:rPr lang="en-US" sz="1200" dirty="0">
                <a:sym typeface="Wingdings" panose="05000000000000000000" pitchFamily="2" charset="2"/>
              </a:rPr>
              <a:t></a:t>
            </a:r>
            <a:r>
              <a:rPr lang="en-US" sz="1200" dirty="0"/>
              <a:t> 0 </a:t>
            </a:r>
          </a:p>
          <a:p>
            <a:pPr marL="342900" indent="-342900">
              <a:buAutoNum type="arabicPeriod"/>
            </a:pPr>
            <a:r>
              <a:rPr lang="en-US" sz="1200" dirty="0"/>
              <a:t>            [6, 2, 8]                    5                                 8 </a:t>
            </a:r>
            <a:r>
              <a:rPr lang="en-US" sz="1200" dirty="0">
                <a:sym typeface="Wingdings" panose="05000000000000000000" pitchFamily="2" charset="2"/>
              </a:rPr>
              <a:t></a:t>
            </a:r>
            <a:r>
              <a:rPr lang="en-US" sz="1200" dirty="0"/>
              <a:t> 0</a:t>
            </a:r>
          </a:p>
          <a:p>
            <a:pPr marL="342900" indent="-342900">
              <a:buAutoNum type="arabicPeriod"/>
            </a:pPr>
            <a:r>
              <a:rPr lang="en-US" sz="1200" dirty="0"/>
              <a:t>              [2, 8]                      6                                 3 </a:t>
            </a:r>
            <a:r>
              <a:rPr lang="en-US" sz="1200" dirty="0">
                <a:sym typeface="Wingdings" panose="05000000000000000000" pitchFamily="2" charset="2"/>
              </a:rPr>
              <a:t></a:t>
            </a:r>
            <a:r>
              <a:rPr lang="en-US" sz="1200" dirty="0"/>
              <a:t> 1</a:t>
            </a:r>
          </a:p>
          <a:p>
            <a:pPr marL="342900" indent="-342900">
              <a:buAutoNum type="arabicPeriod"/>
            </a:pPr>
            <a:r>
              <a:rPr lang="en-US" sz="1200" dirty="0"/>
              <a:t>              [8, 4]                      2                                 4 </a:t>
            </a:r>
            <a:r>
              <a:rPr lang="en-US" sz="1200" dirty="0">
                <a:sym typeface="Wingdings" panose="05000000000000000000" pitchFamily="2" charset="2"/>
              </a:rPr>
              <a:t></a:t>
            </a:r>
            <a:r>
              <a:rPr lang="en-US" sz="1200" dirty="0"/>
              <a:t> 0</a:t>
            </a:r>
          </a:p>
          <a:p>
            <a:pPr marL="342900" indent="-342900">
              <a:buAutoNum type="arabicPeriod"/>
            </a:pPr>
            <a:r>
              <a:rPr lang="en-US" sz="1200" dirty="0"/>
              <a:t>              [4, 9]                      8                                 9 </a:t>
            </a:r>
            <a:r>
              <a:rPr lang="en-US" sz="1200" dirty="0">
                <a:sym typeface="Wingdings" panose="05000000000000000000" pitchFamily="2" charset="2"/>
              </a:rPr>
              <a:t></a:t>
            </a:r>
            <a:r>
              <a:rPr lang="en-US" sz="1200" dirty="0"/>
              <a:t> 0</a:t>
            </a:r>
          </a:p>
          <a:p>
            <a:pPr marL="342900" indent="-342900">
              <a:buAutoNum type="arabicPeriod"/>
            </a:pPr>
            <a:r>
              <a:rPr lang="en-US" sz="1200" dirty="0"/>
              <a:t>              [9, 3]                      4                                 3 </a:t>
            </a:r>
            <a:r>
              <a:rPr lang="en-US" sz="1200" dirty="0">
                <a:sym typeface="Wingdings" panose="05000000000000000000" pitchFamily="2" charset="2"/>
              </a:rPr>
              <a:t></a:t>
            </a:r>
            <a:r>
              <a:rPr lang="en-US" sz="1200" dirty="0"/>
              <a:t> 0</a:t>
            </a:r>
          </a:p>
          <a:p>
            <a:pPr marL="342900" indent="-342900">
              <a:buAutoNum type="arabicPeriod"/>
            </a:pPr>
            <a:r>
              <a:rPr lang="en-US" sz="1200" dirty="0"/>
              <a:t>                 [3]                       9                                     </a:t>
            </a:r>
          </a:p>
          <a:p>
            <a:pPr marL="342900" indent="-342900">
              <a:buAutoNum type="arabicPeriod"/>
            </a:pPr>
            <a:r>
              <a:rPr lang="en-US" sz="1200" dirty="0"/>
              <a:t>                 []                         3                   Finished </a:t>
            </a:r>
            <a:r>
              <a:rPr lang="en-US" sz="1200" dirty="0" err="1"/>
              <a:t>predCount</a:t>
            </a:r>
            <a:r>
              <a:rPr lang="en-US" sz="1200" dirty="0"/>
              <a:t>                     </a:t>
            </a:r>
          </a:p>
          <a:p>
            <a:pPr marL="342900" indent="-342900">
              <a:buAutoNum type="arabicPeriod"/>
            </a:pPr>
            <a:endParaRPr lang="en-US" sz="1200" dirty="0"/>
          </a:p>
          <a:p>
            <a:pPr marL="342900" indent="-342900">
              <a:buAutoNum type="arabicPeriod"/>
            </a:pP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4" descr="08">
            <a:extLst>
              <a:ext uri="{FF2B5EF4-FFF2-40B4-BE49-F238E27FC236}">
                <a16:creationId xmlns:a16="http://schemas.microsoft.com/office/drawing/2014/main" id="{9FE784F9-D9A7-4F7B-AD49-6C3E9EEF28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219200"/>
            <a:ext cx="57150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Rectangle 5">
            <a:extLst>
              <a:ext uri="{FF2B5EF4-FFF2-40B4-BE49-F238E27FC236}">
                <a16:creationId xmlns:a16="http://schemas.microsoft.com/office/drawing/2014/main" id="{FF2496EF-C9B8-49EF-A543-7502752ACE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609600"/>
            <a:ext cx="5416868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10. List the nodes of the graph in a breadth first topological ordering.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63951C-3917-6178-C8D5-0615BBD014FD}"/>
              </a:ext>
            </a:extLst>
          </p:cNvPr>
          <p:cNvSpPr txBox="1"/>
          <p:nvPr/>
        </p:nvSpPr>
        <p:spPr>
          <a:xfrm>
            <a:off x="571500" y="4127423"/>
            <a:ext cx="5715000" cy="889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Start  Discrete Math  Programming 1  Programming 2  Computer Organization  Algorithms  High-Level Languages  Operating Systems  Theory of Computation  Compiles  Senior Seminar  End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/>
      <a:bodyPr/>
      <a:lstStyle/>
      <a:style>
        <a:lnRef idx="2">
          <a:schemeClr val="dk1"/>
        </a:lnRef>
        <a:fillRef idx="0">
          <a:schemeClr val="dk1"/>
        </a:fillRef>
        <a:effectRef idx="1">
          <a:schemeClr val="dk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852</TotalTime>
  <Words>951</Words>
  <Application>Microsoft Office PowerPoint</Application>
  <PresentationFormat>On-screen Show (4:3)</PresentationFormat>
  <Paragraphs>224</Paragraphs>
  <Slides>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Times New Roman</vt:lpstr>
      <vt:lpstr>Wingdings</vt:lpstr>
      <vt:lpstr>Default Design</vt:lpstr>
      <vt:lpstr>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Joe Wisniewski</dc:creator>
  <cp:lastModifiedBy>Malik, Tanvi</cp:lastModifiedBy>
  <cp:revision>16</cp:revision>
  <cp:lastPrinted>2018-11-12T14:09:18Z</cp:lastPrinted>
  <dcterms:created xsi:type="dcterms:W3CDTF">2003-11-20T06:12:01Z</dcterms:created>
  <dcterms:modified xsi:type="dcterms:W3CDTF">2025-11-17T00:37:07Z</dcterms:modified>
</cp:coreProperties>
</file>